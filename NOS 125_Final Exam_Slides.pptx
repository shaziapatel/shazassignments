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b="1" dirty="0"/>
            <a:t>What is Ansible?</a:t>
          </a:r>
          <a:endParaRPr lang="en-US" dirty="0"/>
        </a:p>
      </dgm:t>
    </dgm:pt>
    <dgm:pt modelId="{EF449C32-A7AE-4099-9E9B-9E2F736A89CE}" type="sibTrans" cxnId="{F226B1C2-5D99-403A-8240-EAD6BD4D8534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b="1" dirty="0"/>
            <a:t>Why we use it?</a:t>
          </a:r>
          <a:endParaRPr lang="en-US" dirty="0"/>
        </a:p>
      </dgm:t>
    </dgm:pt>
    <dgm:pt modelId="{98E6DD7C-B953-4119-9F64-9914E467ECBF}" type="sibTrans" cxnId="{E476EEBC-7C9F-4E07-BD58-1044B9769B6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B6980289-7C82-43DD-8A81-DC76912D9B9C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dirty="0"/>
            <a:t>A tool that automates repetitive tasks on servers.</a:t>
          </a:r>
        </a:p>
      </dgm:t>
    </dgm:pt>
    <dgm:pt modelId="{D2DE8FCC-3923-4E92-B217-7C9A9ABE14AD}" type="parTrans" cxnId="{72DDB769-CDAF-4BC1-A929-D82462FEB650}">
      <dgm:prSet/>
      <dgm:spPr/>
      <dgm:t>
        <a:bodyPr/>
        <a:lstStyle/>
        <a:p>
          <a:endParaRPr lang="en-US"/>
        </a:p>
      </dgm:t>
    </dgm:pt>
    <dgm:pt modelId="{966445EB-3DEC-48CD-A182-4E5B7C4F427F}" type="sibTrans" cxnId="{72DDB769-CDAF-4BC1-A929-D82462FEB650}">
      <dgm:prSet/>
      <dgm:spPr/>
      <dgm:t>
        <a:bodyPr/>
        <a:lstStyle/>
        <a:p>
          <a:endParaRPr lang="en-US"/>
        </a:p>
      </dgm:t>
    </dgm:pt>
    <dgm:pt modelId="{BEDEFDDE-BB98-47CE-BE79-B5F5DD27B1A5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dirty="0"/>
            <a:t>Makes sure tasks are done consistently and reliably.</a:t>
          </a:r>
        </a:p>
      </dgm:t>
    </dgm:pt>
    <dgm:pt modelId="{3D1BDEA2-5434-4EEE-AE6C-C01F9D3DA331}" type="parTrans" cxnId="{9E65C0DC-DD15-4B96-BE7E-F49CC0E3A066}">
      <dgm:prSet/>
      <dgm:spPr/>
      <dgm:t>
        <a:bodyPr/>
        <a:lstStyle/>
        <a:p>
          <a:endParaRPr lang="en-US"/>
        </a:p>
      </dgm:t>
    </dgm:pt>
    <dgm:pt modelId="{E4598002-7A41-4DB8-814B-C1C5F4C6E0E9}" type="sibTrans" cxnId="{9E65C0DC-DD15-4B96-BE7E-F49CC0E3A066}">
      <dgm:prSet/>
      <dgm:spPr/>
      <dgm:t>
        <a:bodyPr/>
        <a:lstStyle/>
        <a:p>
          <a:endParaRPr lang="en-US"/>
        </a:p>
      </dgm:t>
    </dgm:pt>
    <dgm:pt modelId="{6B6EC58E-7E9C-46E6-96DC-7DCA787D6C02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Reduces manual work.</a:t>
          </a:r>
        </a:p>
      </dgm:t>
    </dgm:pt>
    <dgm:pt modelId="{A61DE580-0F2E-4B36-A868-CDCC3905B3F8}" type="parTrans" cxnId="{265F5851-94A8-4BFB-8898-992426F09E16}">
      <dgm:prSet/>
      <dgm:spPr/>
      <dgm:t>
        <a:bodyPr/>
        <a:lstStyle/>
        <a:p>
          <a:endParaRPr lang="en-US"/>
        </a:p>
      </dgm:t>
    </dgm:pt>
    <dgm:pt modelId="{2B31C75F-E2F0-402A-A2A1-D9529BD607F9}" type="sibTrans" cxnId="{265F5851-94A8-4BFB-8898-992426F09E16}">
      <dgm:prSet/>
      <dgm:spPr/>
      <dgm:t>
        <a:bodyPr/>
        <a:lstStyle/>
        <a:p>
          <a:endParaRPr lang="en-US"/>
        </a:p>
      </dgm:t>
    </dgm:pt>
    <dgm:pt modelId="{84BFF5C3-B651-4CE3-81EB-6003F9F407F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dirty="0"/>
            <a:t>Avoids human errors.</a:t>
          </a:r>
        </a:p>
      </dgm:t>
    </dgm:pt>
    <dgm:pt modelId="{4D90E8F4-5EB0-4A3F-BDFF-75DD62DABFDB}" type="parTrans" cxnId="{BF704EFB-88E2-4AA7-B073-7B4D9486F12B}">
      <dgm:prSet/>
      <dgm:spPr/>
      <dgm:t>
        <a:bodyPr/>
        <a:lstStyle/>
        <a:p>
          <a:endParaRPr lang="en-US"/>
        </a:p>
      </dgm:t>
    </dgm:pt>
    <dgm:pt modelId="{A3227F51-CBEA-45BB-B233-05E8B0C9B6DE}" type="sibTrans" cxnId="{BF704EFB-88E2-4AA7-B073-7B4D9486F12B}">
      <dgm:prSet/>
      <dgm:spPr/>
      <dgm:t>
        <a:bodyPr/>
        <a:lstStyle/>
        <a:p>
          <a:endParaRPr lang="en-US"/>
        </a:p>
      </dgm:t>
    </dgm:pt>
    <dgm:pt modelId="{8D60C82C-DADF-48EE-8D3A-8F7C7BE138AA}">
      <dgm:prSet/>
      <dgm:spPr/>
      <dgm:t>
        <a:bodyPr/>
        <a:lstStyle/>
        <a:p>
          <a:r>
            <a:rPr lang="en-US"/>
            <a:t>Saves time when managing multiple servers.</a:t>
          </a:r>
          <a:endParaRPr lang="en-US" dirty="0"/>
        </a:p>
      </dgm:t>
    </dgm:pt>
    <dgm:pt modelId="{45D0B61D-636F-4EE4-B25E-89D1CFC7542D}" type="parTrans" cxnId="{6F71A899-1D08-4F7C-95EF-58CDDF90C035}">
      <dgm:prSet/>
      <dgm:spPr/>
      <dgm:t>
        <a:bodyPr/>
        <a:lstStyle/>
        <a:p>
          <a:endParaRPr lang="en-US"/>
        </a:p>
      </dgm:t>
    </dgm:pt>
    <dgm:pt modelId="{1204DC2C-D895-435B-831A-D96B16885961}" type="sibTrans" cxnId="{6F71A899-1D08-4F7C-95EF-58CDDF90C035}">
      <dgm:prSet/>
      <dgm:spPr/>
      <dgm:t>
        <a:bodyPr/>
        <a:lstStyle/>
        <a:p>
          <a:endParaRPr lang="en-US"/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0" presStyleCnt="2" custLinFactNeighborX="5792" custLinFactNeighborY="-50298"/>
      <dgm:spPr>
        <a:prstGeom prst="roundRect">
          <a:avLst/>
        </a:prstGeom>
      </dgm:spPr>
    </dgm:pt>
    <dgm:pt modelId="{975C752B-C37A-4BA6-A3AE-2202A141404A}" type="pres">
      <dgm:prSet presAssocID="{EF449C32-A7AE-4099-9E9B-9E2F736A89CE}" presName="sibTransNodeRect" presStyleLbl="alignNode1" presStyleIdx="0" presStyleCnt="2" custFlipVert="0" custScaleY="12579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0" presStyleCnt="2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1" presStyleCnt="2"/>
      <dgm:spPr>
        <a:prstGeom prst="roundRect">
          <a:avLst/>
        </a:prstGeom>
      </dgm:spPr>
    </dgm:pt>
    <dgm:pt modelId="{E20811D6-E5D4-4C9E-AABF-9E0E1902CA2C}" type="pres">
      <dgm:prSet presAssocID="{98E6DD7C-B953-4119-9F64-9914E467ECBF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DD77FD67-95EF-45D5-832B-61D92191E99D}" type="presOf" srcId="{6B6EC58E-7E9C-46E6-96DC-7DCA787D6C02}" destId="{67D48337-9200-42EF-A956-8FC92E9B78D2}" srcOrd="0" destOrd="1" presId="urn:microsoft.com/office/officeart/2016/7/layout/LinearBlockProcessNumbered"/>
    <dgm:cxn modelId="{72DDB769-CDAF-4BC1-A929-D82462FEB650}" srcId="{53742231-981F-480A-940F-203EC2F7423F}" destId="{B6980289-7C82-43DD-8A81-DC76912D9B9C}" srcOrd="0" destOrd="0" parTransId="{D2DE8FCC-3923-4E92-B217-7C9A9ABE14AD}" sibTransId="{966445EB-3DEC-48CD-A182-4E5B7C4F427F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65F5851-94A8-4BFB-8898-992426F09E16}" srcId="{9EF41CC5-EF3B-4A6D-8229-3F1333EADFB3}" destId="{6B6EC58E-7E9C-46E6-96DC-7DCA787D6C02}" srcOrd="0" destOrd="0" parTransId="{A61DE580-0F2E-4B36-A868-CDCC3905B3F8}" sibTransId="{2B31C75F-E2F0-402A-A2A1-D9529BD607F9}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6F71A899-1D08-4F7C-95EF-58CDDF90C035}" srcId="{9EF41CC5-EF3B-4A6D-8229-3F1333EADFB3}" destId="{8D60C82C-DADF-48EE-8D3A-8F7C7BE138AA}" srcOrd="2" destOrd="0" parTransId="{45D0B61D-636F-4EE4-B25E-89D1CFC7542D}" sibTransId="{1204DC2C-D895-435B-831A-D96B16885961}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0192AAB4-9714-4299-84A4-5F10754D52BC}" type="presOf" srcId="{84BFF5C3-B651-4CE3-81EB-6003F9F407FF}" destId="{67D48337-9200-42EF-A956-8FC92E9B78D2}" srcOrd="0" destOrd="2" presId="urn:microsoft.com/office/officeart/2016/7/layout/LinearBlockProcessNumbered"/>
    <dgm:cxn modelId="{E476EEBC-7C9F-4E07-BD58-1044B9769B64}" srcId="{8AA20905-3954-474B-A606-562BCA026DC1}" destId="{9EF41CC5-EF3B-4A6D-8229-3F1333EADFB3}" srcOrd="1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0" destOrd="0" parTransId="{2FC75195-FBA1-43DE-85DD-40B4B3A2F1F3}" sibTransId="{EF449C32-A7AE-4099-9E9B-9E2F736A89CE}"/>
    <dgm:cxn modelId="{3377C7DA-6AB1-46AC-9B69-D22D521CD43A}" type="presOf" srcId="{8D60C82C-DADF-48EE-8D3A-8F7C7BE138AA}" destId="{67D48337-9200-42EF-A956-8FC92E9B78D2}" srcOrd="0" destOrd="3" presId="urn:microsoft.com/office/officeart/2016/7/layout/LinearBlockProcessNumbered"/>
    <dgm:cxn modelId="{9E65C0DC-DD15-4B96-BE7E-F49CC0E3A066}" srcId="{53742231-981F-480A-940F-203EC2F7423F}" destId="{BEDEFDDE-BB98-47CE-BE79-B5F5DD27B1A5}" srcOrd="1" destOrd="0" parTransId="{3D1BDEA2-5434-4EEE-AE6C-C01F9D3DA331}" sibTransId="{E4598002-7A41-4DB8-814B-C1C5F4C6E0E9}"/>
    <dgm:cxn modelId="{0F2B81EF-6827-4484-953B-3B42D26B603C}" type="presOf" srcId="{BEDEFDDE-BB98-47CE-BE79-B5F5DD27B1A5}" destId="{C5BDCA19-B754-421E-A6CC-628F80FC74CB}" srcOrd="0" destOrd="2" presId="urn:microsoft.com/office/officeart/2016/7/layout/LinearBlockProcessNumbered"/>
    <dgm:cxn modelId="{99CF5BF4-A6FB-4D6C-8321-00B8447CA61D}" type="presOf" srcId="{B6980289-7C82-43DD-8A81-DC76912D9B9C}" destId="{C5BDCA19-B754-421E-A6CC-628F80FC74CB}" srcOrd="0" destOrd="1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BF704EFB-88E2-4AA7-B073-7B4D9486F12B}" srcId="{9EF41CC5-EF3B-4A6D-8229-3F1333EADFB3}" destId="{84BFF5C3-B651-4CE3-81EB-6003F9F407FF}" srcOrd="1" destOrd="0" parTransId="{4D90E8F4-5EB0-4A3F-BDFF-75DD62DABFDB}" sibTransId="{A3227F51-CBEA-45BB-B233-05E8B0C9B6DE}"/>
    <dgm:cxn modelId="{2A71550B-14EE-4B95-A40C-E132F64E84DB}" type="presParOf" srcId="{579698BD-D232-4926-8D7B-29A69B90858B}" destId="{0864151C-845B-4A50-9755-7EE613694D81}" srcOrd="0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1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2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E7F27-0E5D-4AFB-ACD6-B5A19E79EA42}">
      <dsp:nvSpPr>
        <dsp:cNvPr id="0" name=""/>
        <dsp:cNvSpPr/>
      </dsp:nvSpPr>
      <dsp:spPr>
        <a:xfrm>
          <a:off x="216980" y="0"/>
          <a:ext cx="3704609" cy="2603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933" tIns="0" rIns="365933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What is Ansible?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500" kern="1200" dirty="0"/>
            <a:t>A tool that automates repetitive tasks on servers.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500" kern="1200" dirty="0"/>
            <a:t>Makes sure tasks are done consistently and reliably.</a:t>
          </a:r>
        </a:p>
      </dsp:txBody>
      <dsp:txXfrm>
        <a:off x="216980" y="1041486"/>
        <a:ext cx="3704609" cy="1562229"/>
      </dsp:txXfrm>
    </dsp:sp>
    <dsp:sp modelId="{975C752B-C37A-4BA6-A3AE-2202A141404A}">
      <dsp:nvSpPr>
        <dsp:cNvPr id="0" name=""/>
        <dsp:cNvSpPr/>
      </dsp:nvSpPr>
      <dsp:spPr>
        <a:xfrm>
          <a:off x="2409" y="455238"/>
          <a:ext cx="3704609" cy="131008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933" tIns="165100" rIns="365933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01</a:t>
          </a:r>
          <a:endParaRPr lang="en-US" sz="1400" kern="1200" dirty="0"/>
        </a:p>
      </dsp:txBody>
      <dsp:txXfrm>
        <a:off x="2409" y="455238"/>
        <a:ext cx="3704609" cy="131008"/>
      </dsp:txXfrm>
    </dsp:sp>
    <dsp:sp modelId="{CAD62F17-E99D-4FEF-B376-961CA4CB20EB}">
      <dsp:nvSpPr>
        <dsp:cNvPr id="0" name=""/>
        <dsp:cNvSpPr/>
      </dsp:nvSpPr>
      <dsp:spPr>
        <a:xfrm>
          <a:off x="4003387" y="0"/>
          <a:ext cx="3704609" cy="260371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933" tIns="0" rIns="365933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Why we use it?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500" kern="1200"/>
            <a:t>Reduces manual work.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500" kern="1200" dirty="0"/>
            <a:t>Avoids human errors.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Saves time when managing multiple servers.</a:t>
          </a:r>
          <a:endParaRPr lang="en-US" sz="1500" kern="1200" dirty="0"/>
        </a:p>
      </dsp:txBody>
      <dsp:txXfrm>
        <a:off x="4003387" y="1041485"/>
        <a:ext cx="3704609" cy="1562229"/>
      </dsp:txXfrm>
    </dsp:sp>
    <dsp:sp modelId="{E20811D6-E5D4-4C9E-AABF-9E0E1902CA2C}">
      <dsp:nvSpPr>
        <dsp:cNvPr id="0" name=""/>
        <dsp:cNvSpPr/>
      </dsp:nvSpPr>
      <dsp:spPr>
        <a:xfrm>
          <a:off x="4003387" y="0"/>
          <a:ext cx="3704609" cy="1041486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933" tIns="165100" rIns="365933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02</a:t>
          </a:r>
        </a:p>
      </dsp:txBody>
      <dsp:txXfrm>
        <a:off x="4003387" y="0"/>
        <a:ext cx="3704609" cy="1041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ow to Automate Server Provisioning with Ansible - Infotechys.com">
            <a:extLst>
              <a:ext uri="{FF2B5EF4-FFF2-40B4-BE49-F238E27FC236}">
                <a16:creationId xmlns:a16="http://schemas.microsoft.com/office/drawing/2014/main" id="{9D537E5D-ECDD-24F4-9A24-18FB619D59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How to Automate Server Provisioning with Ansible - Infotechys.com">
            <a:extLst>
              <a:ext uri="{FF2B5EF4-FFF2-40B4-BE49-F238E27FC236}">
                <a16:creationId xmlns:a16="http://schemas.microsoft.com/office/drawing/2014/main" id="{F78A4A39-19B9-9EEC-0BFB-D3AF511C5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room with a sign and a red hat&#10;&#10;AI-generated content may be incorrect.">
            <a:extLst>
              <a:ext uri="{FF2B5EF4-FFF2-40B4-BE49-F238E27FC236}">
                <a16:creationId xmlns:a16="http://schemas.microsoft.com/office/drawing/2014/main" id="{F53AAAD9-0966-DB41-DE61-6C97A0BCD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3771" cy="6858000"/>
          </a:xfrm>
          <a:prstGeom prst="rect">
            <a:avLst/>
          </a:prstGeom>
        </p:spPr>
      </p:pic>
      <p:sp>
        <p:nvSpPr>
          <p:cNvPr id="15" name="Subtitle 13">
            <a:extLst>
              <a:ext uri="{FF2B5EF4-FFF2-40B4-BE49-F238E27FC236}">
                <a16:creationId xmlns:a16="http://schemas.microsoft.com/office/drawing/2014/main" id="{D2165C23-0985-B001-48E2-0A159EE8E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401117"/>
            <a:ext cx="5943599" cy="118803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By: </a:t>
            </a:r>
            <a:r>
              <a:rPr lang="en-US" b="1" dirty="0" err="1"/>
              <a:t>Shazia</a:t>
            </a:r>
            <a:r>
              <a:rPr lang="en-US" b="1" dirty="0"/>
              <a:t> Patel</a:t>
            </a:r>
          </a:p>
          <a:p>
            <a:r>
              <a:rPr lang="en-US" b="1" dirty="0"/>
              <a:t>Prof: Mrs. Holley </a:t>
            </a:r>
          </a:p>
          <a:p>
            <a:r>
              <a:rPr lang="en-US" sz="2200" b="1" dirty="0"/>
              <a:t>(NOS 125-Ansible) Automate Server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3" y="0"/>
            <a:ext cx="11283371" cy="1257300"/>
          </a:xfrm>
        </p:spPr>
        <p:txBody>
          <a:bodyPr>
            <a:normAutofit/>
          </a:bodyPr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Automation with Ansible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287350"/>
              </p:ext>
            </p:extLst>
          </p:nvPr>
        </p:nvGraphicFramePr>
        <p:xfrm>
          <a:off x="1859797" y="3781586"/>
          <a:ext cx="7710407" cy="2603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Automation of VMs on OCP Virtualization using Ansible Automation Platform  under 5 minutes | by Saif Rehman | Medium">
            <a:extLst>
              <a:ext uri="{FF2B5EF4-FFF2-40B4-BE49-F238E27FC236}">
                <a16:creationId xmlns:a16="http://schemas.microsoft.com/office/drawing/2014/main" id="{4D957773-07EB-20F4-19E0-B657222C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539" y="803974"/>
            <a:ext cx="5899688" cy="331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DF39-91BF-22CC-E7E0-AC0021A7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kumimoji="0" lang="en-US" sz="4800" b="1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ED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Our Scenario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5444-8616-81AC-910B-D67DCBB5E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2 servers: </a:t>
            </a:r>
            <a:r>
              <a:rPr lang="en-US" dirty="0" err="1"/>
              <a:t>servera</a:t>
            </a:r>
            <a:r>
              <a:rPr lang="en-US" dirty="0"/>
              <a:t> and </a:t>
            </a:r>
            <a:r>
              <a:rPr lang="en-US" dirty="0" err="1"/>
              <a:t>serverb</a:t>
            </a:r>
            <a:r>
              <a:rPr lang="en-US" dirty="0"/>
              <a:t>.</a:t>
            </a:r>
          </a:p>
          <a:p>
            <a:r>
              <a:rPr lang="en-US" dirty="0"/>
              <a:t>We need to:</a:t>
            </a:r>
          </a:p>
          <a:p>
            <a:pPr marL="4140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4EEDC"/>
              </a:buClr>
              <a:buSzPct val="70000"/>
              <a:buFont typeface="Wingdings 2" charset="2"/>
              <a:buNone/>
              <a:tabLst/>
              <a:defRPr/>
            </a:pPr>
            <a:r>
              <a:rPr lang="en-US" dirty="0"/>
              <a:t>1.	</a:t>
            </a:r>
            <a:r>
              <a:rPr kumimoji="0" lang="en-US" sz="21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EDC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Install necessary software packages.</a:t>
            </a:r>
          </a:p>
          <a:p>
            <a:pPr marL="4140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4EEDC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EDC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2.	Make sure the software is running correctly.</a:t>
            </a:r>
          </a:p>
          <a:p>
            <a:pPr marL="4140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4EEDC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EDC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3.	Create groups and users for system administration.</a:t>
            </a:r>
          </a:p>
          <a:p>
            <a:pPr marL="4140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4EEDC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EDC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4.	Handle errors automatically if something goes wrong.</a:t>
            </a:r>
          </a:p>
          <a:p>
            <a:endParaRPr lang="en-US" dirty="0"/>
          </a:p>
        </p:txBody>
      </p:sp>
      <p:sp>
        <p:nvSpPr>
          <p:cNvPr id="4" name="AutoShape 2" descr="Ansible Made Easy - DEV Community">
            <a:extLst>
              <a:ext uri="{FF2B5EF4-FFF2-40B4-BE49-F238E27FC236}">
                <a16:creationId xmlns:a16="http://schemas.microsoft.com/office/drawing/2014/main" id="{E15DE4E6-6223-AB91-D104-E0323B11F0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2F05BC-BC88-2D82-8FCE-AE3B7303E518}"/>
              </a:ext>
            </a:extLst>
          </p:cNvPr>
          <p:cNvGrpSpPr/>
          <p:nvPr/>
        </p:nvGrpSpPr>
        <p:grpSpPr>
          <a:xfrm>
            <a:off x="6906383" y="2076450"/>
            <a:ext cx="4553331" cy="2186609"/>
            <a:chOff x="6906383" y="2076450"/>
            <a:chExt cx="4553331" cy="218660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292497B-6BC3-9DDC-F6A5-9CCD3A5C6333}"/>
                </a:ext>
              </a:extLst>
            </p:cNvPr>
            <p:cNvSpPr/>
            <p:nvPr/>
          </p:nvSpPr>
          <p:spPr>
            <a:xfrm>
              <a:off x="6906383" y="2973722"/>
              <a:ext cx="1224951" cy="58659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Ansible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0BC5D3-7853-205D-EEC1-A6153A415538}"/>
                </a:ext>
              </a:extLst>
            </p:cNvPr>
            <p:cNvSpPr/>
            <p:nvPr/>
          </p:nvSpPr>
          <p:spPr>
            <a:xfrm>
              <a:off x="9515061" y="2076450"/>
              <a:ext cx="1792253" cy="51683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 A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ECD452-17EB-B6AA-8972-ADCBF2AC0353}"/>
                </a:ext>
              </a:extLst>
            </p:cNvPr>
            <p:cNvSpPr/>
            <p:nvPr/>
          </p:nvSpPr>
          <p:spPr>
            <a:xfrm>
              <a:off x="9667461" y="3746224"/>
              <a:ext cx="1792253" cy="51683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 B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93FF67-1DF2-D3B3-A69B-D2452E899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334" y="2396987"/>
              <a:ext cx="1536127" cy="7396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59DB0E-80C8-1921-5205-5B0907908CC0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8117520" y="3465858"/>
              <a:ext cx="1549941" cy="5387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4A6A13-064F-D38F-D39C-B9C0F7696C33}"/>
                </a:ext>
              </a:extLst>
            </p:cNvPr>
            <p:cNvSpPr txBox="1"/>
            <p:nvPr/>
          </p:nvSpPr>
          <p:spPr>
            <a:xfrm rot="19964519">
              <a:off x="8500033" y="246576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--ssh--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16CE51-9F86-C8AB-8F6B-531EA07AA331}"/>
                </a:ext>
              </a:extLst>
            </p:cNvPr>
            <p:cNvSpPr txBox="1"/>
            <p:nvPr/>
          </p:nvSpPr>
          <p:spPr>
            <a:xfrm rot="1191746">
              <a:off x="8676783" y="34118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--ssh--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1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DF39-91BF-22CC-E7E0-AC0021A7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How Ansible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5444-8616-81AC-910B-D67DCBB5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56" y="1866900"/>
            <a:ext cx="10353762" cy="4692926"/>
          </a:xfrm>
        </p:spPr>
        <p:txBody>
          <a:bodyPr>
            <a:normAutofit/>
          </a:bodyPr>
          <a:lstStyle/>
          <a:p>
            <a:r>
              <a:rPr lang="en-US" dirty="0"/>
              <a:t>Think of Ansible as a chef following a recipe:</a:t>
            </a:r>
          </a:p>
          <a:p>
            <a:pPr marL="414000" lvl="1" indent="0">
              <a:buNone/>
            </a:pPr>
            <a:r>
              <a:rPr lang="en-US" dirty="0"/>
              <a:t>1.	Check what’s already on the server.</a:t>
            </a:r>
          </a:p>
          <a:p>
            <a:pPr marL="414000" lvl="1" indent="0">
              <a:buNone/>
            </a:pPr>
            <a:r>
              <a:rPr lang="en-US" dirty="0"/>
              <a:t>2.	Install missing software.</a:t>
            </a:r>
          </a:p>
          <a:p>
            <a:pPr marL="414000" lvl="1" indent="0">
              <a:buNone/>
            </a:pPr>
            <a:r>
              <a:rPr lang="en-US" dirty="0"/>
              <a:t>3.	Start and enable services so they run automatically.</a:t>
            </a:r>
          </a:p>
          <a:p>
            <a:pPr marL="414000" lvl="1" indent="0">
              <a:buNone/>
            </a:pPr>
            <a:r>
              <a:rPr lang="en-US" dirty="0"/>
              <a:t>4.	Create groups and users for administration.</a:t>
            </a:r>
          </a:p>
          <a:p>
            <a:pPr marL="871200" lvl="1" indent="-457200">
              <a:buAutoNum type="arabicPeriod" startAt="5"/>
            </a:pPr>
            <a:r>
              <a:rPr lang="en-US" dirty="0"/>
              <a:t>Report success or failure for each step.</a:t>
            </a:r>
          </a:p>
          <a:p>
            <a:pPr marL="871200" lvl="1" indent="-457200">
              <a:buAutoNum type="arabicPeriod" startAt="5"/>
            </a:pPr>
            <a:endParaRPr lang="en-US" dirty="0"/>
          </a:p>
          <a:p>
            <a:r>
              <a:rPr lang="en-US" dirty="0"/>
              <a:t>The instructions are written in a playbook, which is just a list of tasks for Ansible to follow.</a:t>
            </a:r>
          </a:p>
          <a:p>
            <a:endParaRPr lang="en-US" dirty="0"/>
          </a:p>
        </p:txBody>
      </p:sp>
      <p:sp>
        <p:nvSpPr>
          <p:cNvPr id="4" name="AutoShape 2" descr="Ansible Made Easy - DEV Community">
            <a:extLst>
              <a:ext uri="{FF2B5EF4-FFF2-40B4-BE49-F238E27FC236}">
                <a16:creationId xmlns:a16="http://schemas.microsoft.com/office/drawing/2014/main" id="{E15DE4E6-6223-AB91-D104-E0323B11F0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Basics of Ansible and Installation | Talentica.com">
            <a:extLst>
              <a:ext uri="{FF2B5EF4-FFF2-40B4-BE49-F238E27FC236}">
                <a16:creationId xmlns:a16="http://schemas.microsoft.com/office/drawing/2014/main" id="{CE7578F2-F417-1E21-5B06-EFC9601B0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508" y="1606297"/>
            <a:ext cx="4697537" cy="33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08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A1AD-7CD9-BBDC-4814-AF6546A1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 Before Production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3194-2D9A-7295-D6B8-F1312AA1E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781473" cy="3714749"/>
          </a:xfrm>
        </p:spPr>
        <p:txBody>
          <a:bodyPr/>
          <a:lstStyle/>
          <a:p>
            <a:r>
              <a:rPr lang="en-US" dirty="0"/>
              <a:t>First, we test on </a:t>
            </a:r>
            <a:r>
              <a:rPr lang="en-US" dirty="0" err="1"/>
              <a:t>serverc</a:t>
            </a:r>
            <a:r>
              <a:rPr lang="en-US" dirty="0"/>
              <a:t> to make sure nothing breaks.</a:t>
            </a:r>
          </a:p>
          <a:p>
            <a:r>
              <a:rPr lang="en-US" dirty="0"/>
              <a:t>We install the packages, check them, then remove them.</a:t>
            </a:r>
          </a:p>
          <a:p>
            <a:r>
              <a:rPr lang="en-US" dirty="0"/>
              <a:t>Ensures that our changes are safe before touching the main servers.</a:t>
            </a:r>
          </a:p>
          <a:p>
            <a:endParaRPr lang="en-US" dirty="0"/>
          </a:p>
        </p:txBody>
      </p:sp>
      <p:pic>
        <p:nvPicPr>
          <p:cNvPr id="2052" name="Picture 4" descr="Avoiding common mistakes in your Ansible Playbooks | XLAB Steampunk blog">
            <a:extLst>
              <a:ext uri="{FF2B5EF4-FFF2-40B4-BE49-F238E27FC236}">
                <a16:creationId xmlns:a16="http://schemas.microsoft.com/office/drawing/2014/main" id="{9C3EF467-0CFD-70E5-85A6-3080A0CBA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88"/>
          <a:stretch>
            <a:fillRect/>
          </a:stretch>
        </p:blipFill>
        <p:spPr bwMode="auto">
          <a:xfrm>
            <a:off x="6781361" y="2076450"/>
            <a:ext cx="5242221" cy="258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96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E47A-E2FB-E520-2E7D-49536F40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Installing and Managing Software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B8EFE-AA0C-082F-8D9C-888944F50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 </a:t>
            </a:r>
            <a:r>
              <a:rPr lang="en-US" b="1" dirty="0" err="1"/>
              <a:t>servera</a:t>
            </a:r>
            <a:r>
              <a:rPr lang="en-US" b="1" dirty="0"/>
              <a:t> and </a:t>
            </a:r>
            <a:r>
              <a:rPr lang="en-US" b="1" dirty="0" err="1"/>
              <a:t>serverb</a:t>
            </a:r>
            <a:r>
              <a:rPr lang="en-US" b="1" dirty="0"/>
              <a:t>:</a:t>
            </a:r>
          </a:p>
          <a:p>
            <a:endParaRPr lang="en-US" dirty="0"/>
          </a:p>
          <a:p>
            <a:pPr marL="414000" lvl="1" indent="0">
              <a:buNone/>
            </a:pPr>
            <a:r>
              <a:rPr lang="en-US" dirty="0"/>
              <a:t>o	Ansible installs HTTP server, database server, and firewall.</a:t>
            </a:r>
          </a:p>
          <a:p>
            <a:pPr marL="414000" lvl="1" indent="0">
              <a:buNone/>
            </a:pPr>
            <a:r>
              <a:rPr lang="en-US" dirty="0"/>
              <a:t>o	Automatically starts these services.</a:t>
            </a:r>
          </a:p>
          <a:p>
            <a:pPr marL="414000" lvl="1" indent="0">
              <a:buNone/>
            </a:pPr>
            <a:r>
              <a:rPr lang="en-US" dirty="0"/>
              <a:t>o	Ensures services stay running after reboot.</a:t>
            </a:r>
          </a:p>
          <a:p>
            <a:pPr marL="414000" lvl="1" indent="0">
              <a:buNone/>
            </a:pPr>
            <a:endParaRPr lang="en-US" dirty="0"/>
          </a:p>
          <a:p>
            <a:r>
              <a:rPr lang="en-US" b="1" dirty="0"/>
              <a:t>Error handling: </a:t>
            </a:r>
            <a:r>
              <a:rPr lang="en-US" dirty="0"/>
              <a:t>If installation fails, Ansible logs it and continues without stopping.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266A7-854B-8166-7674-D74593B9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3" t="4679" r="60746" b="11600"/>
          <a:stretch/>
        </p:blipFill>
        <p:spPr>
          <a:xfrm>
            <a:off x="8640417" y="1691310"/>
            <a:ext cx="2173357" cy="329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2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FD59-E680-2FBD-1C46-68AAD5A3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Managing Users and Groups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BB60-80E0-B287-F91E-9723821A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897" y="1716175"/>
            <a:ext cx="7989050" cy="3714749"/>
          </a:xfrm>
        </p:spPr>
        <p:txBody>
          <a:bodyPr/>
          <a:lstStyle/>
          <a:p>
            <a:r>
              <a:rPr lang="en-US" dirty="0"/>
              <a:t>Ansible creates admin groups (</a:t>
            </a:r>
            <a:r>
              <a:rPr lang="en-US" dirty="0" err="1"/>
              <a:t>jr_admins</a:t>
            </a:r>
            <a:r>
              <a:rPr lang="en-US" dirty="0"/>
              <a:t> and </a:t>
            </a:r>
            <a:r>
              <a:rPr lang="en-US" dirty="0" err="1"/>
              <a:t>sr_admins</a:t>
            </a:r>
            <a:r>
              <a:rPr lang="en-US" dirty="0"/>
              <a:t>).</a:t>
            </a:r>
          </a:p>
          <a:p>
            <a:r>
              <a:rPr lang="en-US" dirty="0"/>
              <a:t>Adds users and assigns them to the right groups.</a:t>
            </a:r>
          </a:p>
          <a:p>
            <a:r>
              <a:rPr lang="en-US" dirty="0"/>
              <a:t>Ensures consistent access management across all servers.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9D4A0-A700-0F3D-C3D0-32A5D9ED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674" y="3460337"/>
            <a:ext cx="4706178" cy="313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0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2338-763D-8E56-CFD0-461EB2D8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22" y="87086"/>
            <a:ext cx="10353762" cy="1257300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Benefits for the Team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E866-3C14-CE15-7F10-A756B317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14" y="1466216"/>
            <a:ext cx="6202622" cy="4576141"/>
          </a:xfrm>
        </p:spPr>
        <p:txBody>
          <a:bodyPr/>
          <a:lstStyle/>
          <a:p>
            <a:r>
              <a:rPr lang="en-US" b="1" dirty="0"/>
              <a:t>Consistency: </a:t>
            </a:r>
            <a:r>
              <a:rPr lang="en-US" dirty="0"/>
              <a:t>All servers are configured the same way.</a:t>
            </a:r>
          </a:p>
          <a:p>
            <a:r>
              <a:rPr lang="en-US" b="1" dirty="0"/>
              <a:t>Efficiency: </a:t>
            </a:r>
            <a:r>
              <a:rPr lang="en-US" dirty="0"/>
              <a:t>Tasks that used to take hours now take minutes.</a:t>
            </a:r>
          </a:p>
          <a:p>
            <a:r>
              <a:rPr lang="en-US" b="1" dirty="0"/>
              <a:t>Reliability: </a:t>
            </a:r>
            <a:r>
              <a:rPr lang="en-US" dirty="0"/>
              <a:t>Errors are logged, and issues can be fixed automatically.</a:t>
            </a:r>
          </a:p>
          <a:p>
            <a:r>
              <a:rPr lang="en-US" b="1" dirty="0"/>
              <a:t>Scalability: </a:t>
            </a:r>
            <a:r>
              <a:rPr lang="en-US" dirty="0"/>
              <a:t>Adding more servers is simple – just run the playbook.</a:t>
            </a:r>
          </a:p>
          <a:p>
            <a:endParaRPr lang="en-US" dirty="0"/>
          </a:p>
        </p:txBody>
      </p:sp>
      <p:pic>
        <p:nvPicPr>
          <p:cNvPr id="6148" name="Picture 4" descr="What is Ansible, how it works, and its use cases | by Akhil Sukhnani |  Medium">
            <a:extLst>
              <a:ext uri="{FF2B5EF4-FFF2-40B4-BE49-F238E27FC236}">
                <a16:creationId xmlns:a16="http://schemas.microsoft.com/office/drawing/2014/main" id="{8EABD0ED-0EF6-2F21-397A-E33EE0EF3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817" y="1529018"/>
            <a:ext cx="5404259" cy="428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50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44C2-EEA3-DC7B-9FE7-8F969BDE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8421-D1B8-3460-0700-4C5545859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Ansible automates:</a:t>
            </a:r>
          </a:p>
          <a:p>
            <a:pPr marL="414000" lvl="1" indent="0">
              <a:buNone/>
            </a:pPr>
            <a:r>
              <a:rPr lang="en-US" dirty="0"/>
              <a:t>1.	Software installation</a:t>
            </a:r>
          </a:p>
          <a:p>
            <a:pPr marL="414000" lvl="1" indent="0">
              <a:buNone/>
            </a:pPr>
            <a:r>
              <a:rPr lang="en-US" dirty="0"/>
              <a:t>2.	Service management</a:t>
            </a:r>
          </a:p>
          <a:p>
            <a:pPr marL="414000" lvl="1" indent="0">
              <a:buNone/>
            </a:pPr>
            <a:r>
              <a:rPr lang="en-US" dirty="0"/>
              <a:t>3.	Error handling</a:t>
            </a:r>
          </a:p>
          <a:p>
            <a:pPr marL="414000" lvl="1" indent="0">
              <a:buNone/>
            </a:pPr>
            <a:r>
              <a:rPr lang="en-US" dirty="0"/>
              <a:t>4.	User and group management</a:t>
            </a:r>
          </a:p>
          <a:p>
            <a:r>
              <a:rPr lang="en-US" dirty="0"/>
              <a:t>We tested changes first on </a:t>
            </a:r>
            <a:r>
              <a:rPr lang="en-US" dirty="0" err="1"/>
              <a:t>serverc</a:t>
            </a:r>
            <a:r>
              <a:rPr lang="en-US" dirty="0"/>
              <a:t> to avoid mistakes.</a:t>
            </a:r>
          </a:p>
          <a:p>
            <a:r>
              <a:rPr lang="en-US" dirty="0"/>
              <a:t>Servers </a:t>
            </a:r>
            <a:r>
              <a:rPr lang="en-US" dirty="0" err="1"/>
              <a:t>servera</a:t>
            </a:r>
            <a:r>
              <a:rPr lang="en-US" dirty="0"/>
              <a:t> and </a:t>
            </a:r>
            <a:r>
              <a:rPr lang="en-US" dirty="0" err="1"/>
              <a:t>serverb</a:t>
            </a:r>
            <a:r>
              <a:rPr lang="en-US" dirty="0"/>
              <a:t> are now consistent, secure, and easier to manage.</a:t>
            </a:r>
          </a:p>
          <a:p>
            <a:endParaRPr lang="en-US" dirty="0"/>
          </a:p>
        </p:txBody>
      </p:sp>
      <p:pic>
        <p:nvPicPr>
          <p:cNvPr id="5122" name="Picture 2" descr="Ansible for z/OS: A Beginner's Guide to Mainframe Automation - TechChannel">
            <a:extLst>
              <a:ext uri="{FF2B5EF4-FFF2-40B4-BE49-F238E27FC236}">
                <a16:creationId xmlns:a16="http://schemas.microsoft.com/office/drawing/2014/main" id="{EF613996-18FD-0BD7-8EE2-EAE52BC09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949" y="2099059"/>
            <a:ext cx="5943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895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{731F88B3-BFA8-415B-BBB8-7111CF17BE79}TFe887d8cf-77a9-48cd-9a74-d8d08097a61c3993dec7_win32-329aa78f548b</Template>
  <TotalTime>102</TotalTime>
  <Words>442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Courier New</vt:lpstr>
      <vt:lpstr>Goudy Old Style</vt:lpstr>
      <vt:lpstr>Times New Roman</vt:lpstr>
      <vt:lpstr>Wingdings 2</vt:lpstr>
      <vt:lpstr>SlateVTI</vt:lpstr>
      <vt:lpstr>PowerPoint Presentation</vt:lpstr>
      <vt:lpstr>Introduction to Automation with Ansible</vt:lpstr>
      <vt:lpstr>Our Scenario</vt:lpstr>
      <vt:lpstr>How Ansible Works</vt:lpstr>
      <vt:lpstr>Testing Before Production</vt:lpstr>
      <vt:lpstr>Installing and Managing Software</vt:lpstr>
      <vt:lpstr>Managing Users and Groups</vt:lpstr>
      <vt:lpstr>Benefits for the Team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Shazia-Bano Patel</dc:creator>
  <cp:lastModifiedBy>Shazia Patel</cp:lastModifiedBy>
  <cp:revision>14</cp:revision>
  <dcterms:created xsi:type="dcterms:W3CDTF">2025-09-22T17:12:34Z</dcterms:created>
  <dcterms:modified xsi:type="dcterms:W3CDTF">2025-10-02T20:16:06Z</dcterms:modified>
</cp:coreProperties>
</file>